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开场金句：客户不学打开 AI。她只是打开小福，把心里的事说出来。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先立住人物：怕跳转、怕看不懂、怕没人接。后面每一步都在解这三怕。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动线口诀：打开小福，问身体，看方案，配供给，出门活动，看家人，用权益。价值收成三句话：看清、做成、留住。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客户不学打开 AI。她只是打开小福。</a:t>
            </a:r>
          </a:p>
          <a:p/>
          <a:p>
            <a:r>
              <a:t>客户：她打开长者端首页。不找「AI」入口，也不跳到另一个聊天页。</a:t>
            </a:r>
          </a:p>
          <a:p>
            <a:r>
              <a:t>价值：零学习成本。老人的第一动作就是「说话」，不是「找功能」。产品价值从见面那一秒就开始成立。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指着三格和柱状图：周四血糖 8.2 是高点；本周重点是稳定血糖、起夜开灯。</a:t>
            </a:r>
          </a:p>
          <a:p/>
          <a:p>
            <a:r>
              <a:t>客户：她说「打开我的健康档案」，或点「健康看看」。她要的是安心，不是一张体检表。</a:t>
            </a:r>
          </a:p>
          <a:p>
            <a:r>
              <a:t>价值：需智能：把「家里的身体」看清楚。数字变成图和一句话，老人不用读长文，子女也能一眼知道风险在哪。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档案是现状，方案是节奏。停 3 秒点进详情再回来。</a:t>
            </a:r>
          </a:p>
          <a:p/>
          <a:p>
            <a:r>
              <a:t>客户：看懂现状之后，她会问「我的健康方案」。她要的是今天的节奏，不是一份计划书。</a:t>
            </a:r>
          </a:p>
          <a:p>
            <a:r>
              <a:t>价值：从看懂到做成。方案把医嘱翻译成可执行的一天：量血压、低盐午餐、晚饭后走 20 分钟。卡片按钮接到真页面，不是空提示。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健康解读和商品供给在同一条对话里接上，这就是需供匹配。</a:t>
            </a:r>
          </a:p>
          <a:p/>
          <a:p>
            <a:r>
              <a:t>客户：父亲血压偏高、自己也要居家测。她问：推荐一款适合居家测血压的商品。</a:t>
            </a:r>
          </a:p>
          <a:p>
            <a:r>
              <a:t>价值：需供匹配：需求从体征里长出来，供给按病种、按场景接回去。不是商城里随便推一单，是这条健康对话的自然下一步。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周六长廊、步行 800 米、结束后测血压——和降压计划对得上。</a:t>
            </a:r>
          </a:p>
          <a:p/>
          <a:p>
            <a:r>
              <a:t>客户：她问社区有什么可报名，或点「邻里暖心」。她要的是能去、去得了、去了有好处。</a:t>
            </a:r>
          </a:p>
          <a:p>
            <a:r>
              <a:t>价值：供智能落到社区。活动不是热闹列表，是按关节友好、可测血压来匹配的可履约供给。人、强度、时间接到她身上。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子女不在身边时，小福也能把家里的温度递到眼前。</a:t>
            </a:r>
          </a:p>
          <a:p/>
          <a:p>
            <a:r>
              <a:t>客户：她点「老照片」，或说想看怀旧时光。慢病之外，她还需要被记得。</a:t>
            </a:r>
          </a:p>
          <a:p>
            <a:r>
              <a:t>价值：留住温度。康养不是只有血压。老照片、投屏、家人时间线，让「子女不在身边」这件事被产品接住，而不只是一句安慰。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可压缩。超时砍掉本场，不影响主线。</a:t>
            </a:r>
          </a:p>
          <a:p/>
          <a:p>
            <a:r>
              <a:t>客户：她问钻石会员权益、积分怎么花。她怕权益藏在「我的」里找不到。</a:t>
            </a:r>
          </a:p>
          <a:p>
            <a:r>
              <a:t>价值：权益被看见才算权益。同一条对话里完成查询与使用入口，减少翻页、减少子女代查，会员价值从「拥有」变成「用得上」。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三条线收束。停在有图的卡片上结束。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892A"/>
                </a:solidFill>
                <a:latin typeface="PingFang SC"/>
                <a:ea typeface="PingFang SC"/>
              </a:rPr>
              <a:t>长者端  ·  客户动线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  <a:ea typeface="PingFang SC"/>
              </a:rPr>
              <a:t>林淑芬的一天：从问一句，到把事做成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D8B8"/>
                </a:solidFill>
                <a:latin typeface="PingFang SC"/>
                <a:ea typeface="PingFang SC"/>
              </a:rPr>
              <a:t>客户不学「打开 AI」。她只是打开小福，把心里的事说出来。
系统用一张张卡片把身体、方案、商品、活动和家人摊开——看清、做成、留住。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081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C12"/>
                </a:solidFill>
                <a:latin typeface="PingFang SC"/>
                <a:ea typeface="PingFang SC"/>
              </a:rPr>
              <a:t>人物：林淑芬  ·  68 岁  ·  高血压 / 糖尿病前期  ·  子女不在身边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108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A1C12"/>
                </a:solidFill>
                <a:latin typeface="PingFang SC"/>
                <a:ea typeface="PingFang SC"/>
              </a:rPr>
              <a:t>请自行粘贴页面截图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这位客户是谁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7A66"/>
                </a:solidFill>
                <a:latin typeface="PingFang SC"/>
                <a:ea typeface="PingFang SC"/>
              </a:rPr>
              <a:t>路演始终站在林淑芬一侧讲，不讲功能清单。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11338560" cy="109728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4708"/>
                </a:solidFill>
                <a:latin typeface="PingFang SC"/>
                <a:ea typeface="PingFang SC"/>
              </a:rPr>
              <a:t>她是谁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35331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林淑芬，68 岁。高血压、糖尿病前期。子女双职工、不与她同住。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31720"/>
            <a:ext cx="11338560" cy="109728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4708"/>
                </a:solidFill>
                <a:latin typeface="PingFang SC"/>
                <a:ea typeface="PingFang SC"/>
              </a:rPr>
              <a:t>她怕什么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8775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看不懂数字、记不住医嘱、一个人在家没人问、手机跳来跳去找不到入口。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566160"/>
            <a:ext cx="11338560" cy="109728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3075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4708"/>
                </a:solidFill>
                <a:latin typeface="PingFang SC"/>
                <a:ea typeface="PingFang SC"/>
              </a:rPr>
              <a:t>她要什么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2219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一句话问清楚今天的身体；知道接下来做什么；需要时有人、有物、有活动接得上。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800600"/>
            <a:ext cx="11338560" cy="109728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6519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4708"/>
                </a:solidFill>
                <a:latin typeface="PingFang SC"/>
                <a:ea typeface="PingFang SC"/>
              </a:rPr>
              <a:t>我们怎么待她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5663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不出首页。对话即服务。卡片有图、有数、有图表。按钮接到真事，不接到说明书。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客户动线全图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7A66"/>
                </a:solidFill>
                <a:latin typeface="PingFang SC"/>
                <a:ea typeface="PingFang SC"/>
              </a:rPr>
              <a:t>一条连续的生活路径，不是六个功能入口。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097280"/>
            <a:ext cx="502920" cy="502920"/>
          </a:xfrm>
          <a:prstGeom prst="ellipse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316736"/>
            <a:ext cx="1051560" cy="54864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916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打开小福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860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7A66"/>
                </a:solidFill>
                <a:latin typeface="PingFang SC"/>
                <a:ea typeface="PingFang SC"/>
              </a:rPr>
              <a:t>「我想有人在」</a:t>
            </a:r>
          </a:p>
        </p:txBody>
      </p:sp>
      <p:sp>
        <p:nvSpPr>
          <p:cNvPr id="13" name="Oval 12"/>
          <p:cNvSpPr/>
          <p:nvPr/>
        </p:nvSpPr>
        <p:spPr>
          <a:xfrm>
            <a:off x="2505456" y="1097280"/>
            <a:ext cx="502920" cy="502920"/>
          </a:xfrm>
          <a:prstGeom prst="ellipse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4096" y="1316736"/>
            <a:ext cx="1051560" cy="54864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2536" y="16916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问身体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2536" y="22860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7A66"/>
                </a:solidFill>
                <a:latin typeface="PingFang SC"/>
                <a:ea typeface="PingFang SC"/>
              </a:rPr>
              <a:t>「我今天怎么样」</a:t>
            </a:r>
          </a:p>
        </p:txBody>
      </p:sp>
      <p:sp>
        <p:nvSpPr>
          <p:cNvPr id="18" name="Oval 17"/>
          <p:cNvSpPr/>
          <p:nvPr/>
        </p:nvSpPr>
        <p:spPr>
          <a:xfrm>
            <a:off x="4187952" y="1097280"/>
            <a:ext cx="502920" cy="502920"/>
          </a:xfrm>
          <a:prstGeom prst="ellipse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2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1316736"/>
            <a:ext cx="1051560" cy="54864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16916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看方案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22860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7A66"/>
                </a:solidFill>
                <a:latin typeface="PingFang SC"/>
                <a:ea typeface="PingFang SC"/>
              </a:rPr>
              <a:t>「接下来做什么」</a:t>
            </a:r>
          </a:p>
        </p:txBody>
      </p:sp>
      <p:sp>
        <p:nvSpPr>
          <p:cNvPr id="23" name="Oval 22"/>
          <p:cNvSpPr/>
          <p:nvPr/>
        </p:nvSpPr>
        <p:spPr>
          <a:xfrm>
            <a:off x="5870448" y="1097280"/>
            <a:ext cx="502920" cy="502920"/>
          </a:xfrm>
          <a:prstGeom prst="ellipse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1316736"/>
            <a:ext cx="1051560" cy="54864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7528" y="16916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配供给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22860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7A66"/>
                </a:solidFill>
                <a:latin typeface="PingFang SC"/>
                <a:ea typeface="PingFang SC"/>
              </a:rPr>
              <a:t>「家里缺什么」</a:t>
            </a:r>
          </a:p>
        </p:txBody>
      </p:sp>
      <p:sp>
        <p:nvSpPr>
          <p:cNvPr id="28" name="Oval 27"/>
          <p:cNvSpPr/>
          <p:nvPr/>
        </p:nvSpPr>
        <p:spPr>
          <a:xfrm>
            <a:off x="7552944" y="1097280"/>
            <a:ext cx="502920" cy="502920"/>
          </a:xfrm>
          <a:prstGeom prst="ellipse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1316736"/>
            <a:ext cx="1051560" cy="54864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0024" y="16916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出门活动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22860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7A66"/>
                </a:solidFill>
                <a:latin typeface="PingFang SC"/>
                <a:ea typeface="PingFang SC"/>
              </a:rPr>
              <a:t>「我还能和人在一起」</a:t>
            </a:r>
          </a:p>
        </p:txBody>
      </p:sp>
      <p:sp>
        <p:nvSpPr>
          <p:cNvPr id="33" name="Oval 32"/>
          <p:cNvSpPr/>
          <p:nvPr/>
        </p:nvSpPr>
        <p:spPr>
          <a:xfrm>
            <a:off x="9235440" y="1097280"/>
            <a:ext cx="502920" cy="502920"/>
          </a:xfrm>
          <a:prstGeom prst="ellipse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316736"/>
            <a:ext cx="1051560" cy="54864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16916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看家人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2860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7A66"/>
                </a:solidFill>
                <a:latin typeface="PingFang SC"/>
                <a:ea typeface="PingFang SC"/>
              </a:rPr>
              <a:t>「我不孤单」</a:t>
            </a:r>
          </a:p>
        </p:txBody>
      </p:sp>
      <p:sp>
        <p:nvSpPr>
          <p:cNvPr id="38" name="Oval 37"/>
          <p:cNvSpPr/>
          <p:nvPr/>
        </p:nvSpPr>
        <p:spPr>
          <a:xfrm>
            <a:off x="10917936" y="1097280"/>
            <a:ext cx="502920" cy="502920"/>
          </a:xfrm>
          <a:prstGeom prst="ellipse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17936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5016" y="16916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用权益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15016" y="22860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7A66"/>
                </a:solidFill>
                <a:latin typeface="PingFang SC"/>
                <a:ea typeface="PingFang SC"/>
              </a:rPr>
              <a:t>「我的会员有什么用」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3200400"/>
            <a:ext cx="3657600" cy="29260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4708"/>
                </a:solidFill>
                <a:latin typeface="PingFang SC"/>
                <a:ea typeface="PingFang SC"/>
              </a:rPr>
              <a:t>看清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3931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需智能：把体征、趋势、风险摊开，老人一眼看懂，子女也能同步。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3200400"/>
            <a:ext cx="3657600" cy="29260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4708"/>
                </a:solidFill>
                <a:latin typeface="PingFang SC"/>
                <a:ea typeface="PingFang SC"/>
              </a:rPr>
              <a:t>做成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3931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供智能 + 需供匹配：方案、商品、社区活动按病种接到她今天的任务上。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200400"/>
            <a:ext cx="3657600" cy="29260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4708"/>
                </a:solidFill>
                <a:latin typeface="PingFang SC"/>
                <a:ea typeface="PingFang SC"/>
              </a:rPr>
              <a:t>留住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3931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陪伴不只是慢病：老照片、家人、会员权益在同一条对话里被看见。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打开小福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4160520" cy="539496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9050">
            <a:solidFill>
              <a:srgbClr val="C9B38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3941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B38A"/>
                </a:solidFill>
                <a:latin typeface="PingFang SC"/>
                <a:ea typeface="PingFang SC"/>
              </a:rPr>
              <a:t>□  贴图区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3941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粘贴：长者端首页（含小福问候与宫格）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708660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2412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客户怎么走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6720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她打开长者端首页。不找「AI」入口，也不跳到另一个聊天页。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06040"/>
            <a:ext cx="7086600" cy="169164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系统怎么接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6720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同一屏：问候、六宫格、底部说话条。功能还在，对话从这里开始。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434840"/>
            <a:ext cx="7086600" cy="1874519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5445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这一步的价值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846320"/>
            <a:ext cx="6720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零学习成本。老人的第一动作就是「说话」，不是「找功能」。产品价值从见面那一秒就开始成立。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问一句：我今天怎么样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4160520" cy="539496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9050">
            <a:solidFill>
              <a:srgbClr val="C9B38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3941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B38A"/>
                </a:solidFill>
                <a:latin typeface="PingFang SC"/>
                <a:ea typeface="PingFang SC"/>
              </a:rPr>
              <a:t>□  贴图区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3941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粘贴：健康档案 A2UI 卡片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708660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2412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客户怎么走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6720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她说「打开我的健康档案」，或点「健康看看」。她要的是安心，不是一张体检表。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06040"/>
            <a:ext cx="7086600" cy="169164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系统怎么接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6720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弹出健康档案卡：本人封面、血压/血糖/心率三格、近 7 日血糖柱状图、达标进度、一句重点提醒。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434840"/>
            <a:ext cx="7086600" cy="1874519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5445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这一步的价值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846320"/>
            <a:ext cx="6720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需智能：把「家里的身体」看清楚。数字变成图和一句话，老人不用读长文，子女也能一眼知道风险在哪。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接着问：接下来做什么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4160520" cy="539496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9050">
            <a:solidFill>
              <a:srgbClr val="C9B38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3941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B38A"/>
                </a:solidFill>
                <a:latin typeface="PingFang SC"/>
                <a:ea typeface="PingFang SC"/>
              </a:rPr>
              <a:t>□  贴图区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3941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粘贴：健康方案卡片（可另贴方案详情页）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708660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2412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客户怎么走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6720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看懂现状之后，她会问「我的健康方案」。她要的是今天的节奏，不是一份计划书。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06040"/>
            <a:ext cx="7086600" cy="169164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系统怎么接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6720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平稳降压方案卡：进度、打卡、近 7 日血压折线、今日三件事。点「查看方案」进入完整方案页。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434840"/>
            <a:ext cx="7086600" cy="1874519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5445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这一步的价值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846320"/>
            <a:ext cx="6720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从看懂到做成。方案把医嘱翻译成可执行的一天：量血压、低盐午餐、晚饭后走 20 分钟。卡片按钮接到真页面，不是空提示。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家里缺什么：把供给接上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4160520" cy="539496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9050">
            <a:solidFill>
              <a:srgbClr val="C9B38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3941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B38A"/>
                </a:solidFill>
                <a:latin typeface="PingFang SC"/>
                <a:ea typeface="PingFang SC"/>
              </a:rPr>
              <a:t>□  贴图区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3941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粘贴：血压计商品卡片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708660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2412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客户怎么走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6720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父亲血压偏高、自己也要居家测。她问：推荐一款适合居家测血压的商品。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06040"/>
            <a:ext cx="7086600" cy="169164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系统怎么接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6720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商品卡：产品图、价格、销量、关注度图，「查看详情 / 问问怎么用」。详情进商城，追问继续对话。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434840"/>
            <a:ext cx="7086600" cy="1874519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5445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这一步的价值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846320"/>
            <a:ext cx="6720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需供匹配：需求从体征里长出来，供给按病种、按场景接回去。不是商城里随便推一单，是这条健康对话的自然下一步。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我还能出门：活动接在病种上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4160520" cy="539496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9050">
            <a:solidFill>
              <a:srgbClr val="C9B38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3941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B38A"/>
                </a:solidFill>
                <a:latin typeface="PingFang SC"/>
                <a:ea typeface="PingFang SC"/>
              </a:rPr>
              <a:t>□  贴图区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3941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粘贴：社区活动卡片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708660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2412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客户怎么走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6720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她问社区有什么可报名，或点「邻里暖心」。她要的是能去、去得了、去了有好处。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06040"/>
            <a:ext cx="7086600" cy="169164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系统怎么接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6720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太极晨练班卡片：地点距离、名额、报名热度图。结束后可测血压。按钮：帮我报名 / 去乐活看看。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434840"/>
            <a:ext cx="7086600" cy="1874519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5445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这一步的价值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846320"/>
            <a:ext cx="6720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供智能落到社区。活动不是热闹列表，是按关节友好、可测血压来匹配的可履约供给。人、强度、时间接到她身上。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我不孤单：把家人带到眼前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4160520" cy="539496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9050">
            <a:solidFill>
              <a:srgbClr val="C9B38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3941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B38A"/>
                </a:solidFill>
                <a:latin typeface="PingFang SC"/>
                <a:ea typeface="PingFang SC"/>
              </a:rPr>
              <a:t>□  贴图区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3941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粘贴：怀旧卡片（可另贴「照片动起来」全屏）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708660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2412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客户怎么走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6720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她点「老照片」，或说想看怀旧时光。慢病之外，她还需要被记得。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06040"/>
            <a:ext cx="7086600" cy="169164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系统怎么接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6720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怀旧卡：1980 年合影、家庭时间线缩略图、回忆完成度。点「让照片动起来」全屏影像，关掉回到原处。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434840"/>
            <a:ext cx="7086600" cy="1874519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5445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这一步的价值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846320"/>
            <a:ext cx="6720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留住温度。康养不是只有血压。老照片、投屏、家人时间线，让「子女不在身边」这件事被产品接住，而不只是一句安慰。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动线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4708"/>
                </a:solidFill>
                <a:latin typeface="PingFang SC"/>
                <a:ea typeface="PingFang SC"/>
              </a:rPr>
              <a:t>我的会员有什么用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4160520" cy="539496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9050">
            <a:solidFill>
              <a:srgbClr val="C9B38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3941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B38A"/>
                </a:solidFill>
                <a:latin typeface="PingFang SC"/>
                <a:ea typeface="PingFang SC"/>
              </a:rPr>
              <a:t>□  贴图区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66160"/>
            <a:ext cx="3941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7A66"/>
                </a:solidFill>
                <a:latin typeface="PingFang SC"/>
                <a:ea typeface="PingFang SC"/>
              </a:rPr>
              <a:t>粘贴：会员卡片（可另贴权益页）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708660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2412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客户怎么走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6720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她问钻石会员权益、积分怎么花。她怕权益藏在「我的」里找不到。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606040"/>
            <a:ext cx="7086600" cy="1691640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系统怎么接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99232"/>
            <a:ext cx="6720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会员卡：积分、剩余检测次数、近 6 月积分图。点「查看权益」进入权益页。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434840"/>
            <a:ext cx="7086600" cy="1874519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544568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892A"/>
                </a:solidFill>
                <a:latin typeface="PingFang SC"/>
                <a:ea typeface="PingFang SC"/>
              </a:rPr>
              <a:t>这一步的价值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846320"/>
            <a:ext cx="6720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4708"/>
                </a:solidFill>
                <a:latin typeface="PingFang SC"/>
                <a:ea typeface="PingFang SC"/>
              </a:rPr>
              <a:t>权益被看见才算权益。同一条对话里完成查询与使用入口，减少翻页、减少子女代查，会员价值从「拥有」变成「用得上」。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客户动线  ·  林淑芬  ·  看清 / 做成 / 留住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65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7A66"/>
                </a:solidFill>
                <a:latin typeface="PingFang SC"/>
                <a:ea typeface="PingFang SC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动线收成：三个价值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7A66"/>
                </a:solidFill>
                <a:latin typeface="PingFang SC"/>
                <a:ea typeface="PingFang SC"/>
              </a:rPr>
              <a:t>客户走完这一圈，产品要能被记住的不是功能名，是这三句话。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3657600" cy="3977639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看清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892A"/>
                </a:solidFill>
                <a:latin typeface="PingFang SC"/>
                <a:ea typeface="PingFang SC"/>
              </a:rPr>
              <a:t>需智能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档案、体征、趋势用卡片摊开。
老人看懂，子女同步，风险不再藏在报告里。
对应动线：打开小福 → 问身体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051560"/>
            <a:ext cx="3657600" cy="3977639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做成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892A"/>
                </a:solidFill>
                <a:latin typeface="PingFang SC"/>
                <a:ea typeface="PingFang SC"/>
              </a:rPr>
              <a:t>供智能 · 需供匹配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方案、血压计、太极班按病种接到今天。
对的人、对的强度、对的时间，接到这对老人身上。
对应动线：看方案 → 配供给 → 出门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051560"/>
            <a:ext cx="3657600" cy="3977639"/>
          </a:xfrm>
          <a:prstGeom prst="roundRect">
            <a:avLst>
              <a:gd name="adj" fmla="val 5000"/>
            </a:avLst>
          </a:prstGeom>
          <a:solidFill>
            <a:srgbClr val="FFFBF4"/>
          </a:solidFill>
          <a:ln w="12700">
            <a:solidFill>
              <a:srgbClr val="E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A4708"/>
                </a:solidFill>
                <a:latin typeface="PingFang SC"/>
                <a:ea typeface="PingFang SC"/>
              </a:rPr>
              <a:t>留住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892A"/>
                </a:solidFill>
                <a:latin typeface="PingFang SC"/>
                <a:ea typeface="PingFang SC"/>
              </a:rPr>
              <a:t>陪伴与权益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2B1F"/>
                </a:solidFill>
                <a:latin typeface="PingFang SC"/>
                <a:ea typeface="PingFang SC"/>
              </a:rPr>
              <a:t>老照片、家人、会员在同一条对话被看见。
子女不在，温度还在；权益不藏，用得上。
对应动线：看家人 → 用权益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1208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2B1F"/>
                </a:solidFill>
                <a:latin typeface="PingFang SC"/>
                <a:ea typeface="PingFang SC"/>
              </a:rPr>
              <a:t>收束时停在档案或方案卡上，不要停在空白输入框。
模型在线则流式出卡；断网仍有本地演示。老人始终在首页。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